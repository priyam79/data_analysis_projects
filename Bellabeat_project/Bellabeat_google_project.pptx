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nter" panose="020B060402020202020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524000" y="194187"/>
            <a:ext cx="9144000"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2F5496"/>
              </a:buClr>
              <a:buSzPct val="100000"/>
              <a:buFont typeface="Times New Roman"/>
              <a:buNone/>
            </a:pPr>
            <a:r>
              <a:rPr lang="en-US" b="1">
                <a:solidFill>
                  <a:srgbClr val="2F5496"/>
                </a:solidFill>
                <a:latin typeface="Times New Roman"/>
                <a:ea typeface="Times New Roman"/>
                <a:cs typeface="Times New Roman"/>
                <a:sym typeface="Times New Roman"/>
              </a:rPr>
              <a:t>Case study: How Can a Wellness Technology Company Play It Smart?</a:t>
            </a:r>
            <a:endParaRPr b="1">
              <a:solidFill>
                <a:srgbClr val="2F5496"/>
              </a:solidFill>
              <a:latin typeface="Times New Roman"/>
              <a:ea typeface="Times New Roman"/>
              <a:cs typeface="Times New Roman"/>
              <a:sym typeface="Times New Roman"/>
            </a:endParaRPr>
          </a:p>
        </p:txBody>
      </p:sp>
      <p:sp>
        <p:nvSpPr>
          <p:cNvPr id="89" name="Google Shape;89;p13"/>
          <p:cNvSpPr txBox="1">
            <a:spLocks noGrp="1"/>
          </p:cNvSpPr>
          <p:nvPr>
            <p:ph type="subTitle" idx="1"/>
          </p:nvPr>
        </p:nvSpPr>
        <p:spPr>
          <a:xfrm>
            <a:off x="1524000" y="5202238"/>
            <a:ext cx="9144000" cy="165576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2400"/>
              <a:buNone/>
            </a:pPr>
            <a:r>
              <a:rPr lang="en-US" sz="2400" b="1" dirty="0">
                <a:solidFill>
                  <a:schemeClr val="dk2"/>
                </a:solidFill>
                <a:latin typeface="Times New Roman"/>
                <a:ea typeface="Times New Roman"/>
                <a:cs typeface="Times New Roman"/>
                <a:sym typeface="Times New Roman"/>
              </a:rPr>
              <a:t>Presented by</a:t>
            </a:r>
            <a:r>
              <a:rPr lang="en-US" sz="2400" dirty="0">
                <a:solidFill>
                  <a:schemeClr val="dk2"/>
                </a:solidFill>
                <a:latin typeface="Times New Roman"/>
                <a:ea typeface="Times New Roman"/>
                <a:cs typeface="Times New Roman"/>
                <a:sym typeface="Times New Roman"/>
              </a:rPr>
              <a:t>: Priyam Ghosh</a:t>
            </a:r>
            <a:endParaRPr dirty="0"/>
          </a:p>
          <a:p>
            <a:pPr marL="0" lvl="0" indent="0" algn="l" rtl="0">
              <a:lnSpc>
                <a:spcPct val="90000"/>
              </a:lnSpc>
              <a:spcBef>
                <a:spcPts val="1000"/>
              </a:spcBef>
              <a:spcAft>
                <a:spcPts val="0"/>
              </a:spcAft>
              <a:buClr>
                <a:schemeClr val="dk2"/>
              </a:buClr>
              <a:buSzPts val="2400"/>
              <a:buNone/>
            </a:pPr>
            <a:endParaRPr sz="2400" dirty="0">
              <a:solidFill>
                <a:schemeClr val="dk2"/>
              </a:solidFill>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2400"/>
              <a:buNone/>
            </a:pPr>
            <a:endParaRPr dirty="0"/>
          </a:p>
        </p:txBody>
      </p:sp>
      <p:pic>
        <p:nvPicPr>
          <p:cNvPr id="90" name="Google Shape;90;p13"/>
          <p:cNvPicPr preferRelativeResize="0"/>
          <p:nvPr/>
        </p:nvPicPr>
        <p:blipFill rotWithShape="1">
          <a:blip r:embed="rId3">
            <a:alphaModFix amt="35000"/>
          </a:blip>
          <a:srcRect/>
          <a:stretch/>
        </p:blipFill>
        <p:spPr>
          <a:xfrm>
            <a:off x="0" y="2493069"/>
            <a:ext cx="12192000" cy="24028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title"/>
          </p:nvPr>
        </p:nvSpPr>
        <p:spPr>
          <a:xfrm>
            <a:off x="838200"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Table of Content:</a:t>
            </a:r>
            <a:endParaRPr/>
          </a:p>
        </p:txBody>
      </p:sp>
      <p:sp>
        <p:nvSpPr>
          <p:cNvPr id="96" name="Google Shape;96;p14"/>
          <p:cNvSpPr txBox="1">
            <a:spLocks noGrp="1"/>
          </p:cNvSpPr>
          <p:nvPr>
            <p:ph type="body" idx="1"/>
          </p:nvPr>
        </p:nvSpPr>
        <p:spPr>
          <a:xfrm>
            <a:off x="838200" y="1550321"/>
            <a:ext cx="10515600" cy="4722660"/>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a:t>Objective</a:t>
            </a:r>
            <a:endParaRPr/>
          </a:p>
          <a:p>
            <a:pPr marL="228600" lvl="0" indent="-228600" algn="l" rtl="0">
              <a:lnSpc>
                <a:spcPct val="90000"/>
              </a:lnSpc>
              <a:spcBef>
                <a:spcPts val="1000"/>
              </a:spcBef>
              <a:spcAft>
                <a:spcPts val="0"/>
              </a:spcAft>
              <a:buClr>
                <a:schemeClr val="dk1"/>
              </a:buClr>
              <a:buSzPct val="100000"/>
              <a:buChar char="•"/>
            </a:pPr>
            <a:r>
              <a:rPr lang="en-US"/>
              <a:t>Data Source</a:t>
            </a:r>
            <a:endParaRPr/>
          </a:p>
          <a:p>
            <a:pPr marL="228600" lvl="0" indent="-228600" algn="l" rtl="0">
              <a:lnSpc>
                <a:spcPct val="90000"/>
              </a:lnSpc>
              <a:spcBef>
                <a:spcPts val="1000"/>
              </a:spcBef>
              <a:spcAft>
                <a:spcPts val="0"/>
              </a:spcAft>
              <a:buClr>
                <a:schemeClr val="dk1"/>
              </a:buClr>
              <a:buSzPct val="100000"/>
              <a:buChar char="•"/>
            </a:pPr>
            <a:r>
              <a:rPr lang="en-US"/>
              <a:t>Cleaning and manipulation of data</a:t>
            </a:r>
            <a:endParaRPr/>
          </a:p>
          <a:p>
            <a:pPr marL="228600" lvl="0" indent="-228600" algn="l" rtl="0">
              <a:lnSpc>
                <a:spcPct val="90000"/>
              </a:lnSpc>
              <a:spcBef>
                <a:spcPts val="1000"/>
              </a:spcBef>
              <a:spcAft>
                <a:spcPts val="0"/>
              </a:spcAft>
              <a:buClr>
                <a:schemeClr val="dk1"/>
              </a:buClr>
              <a:buSzPct val="100000"/>
              <a:buChar char="•"/>
            </a:pPr>
            <a:r>
              <a:rPr lang="en-US"/>
              <a:t>TotalSteps vs Calories</a:t>
            </a:r>
            <a:endParaRPr/>
          </a:p>
          <a:p>
            <a:pPr marL="228600" lvl="0" indent="-228600" algn="l" rtl="0">
              <a:lnSpc>
                <a:spcPct val="90000"/>
              </a:lnSpc>
              <a:spcBef>
                <a:spcPts val="1000"/>
              </a:spcBef>
              <a:spcAft>
                <a:spcPts val="0"/>
              </a:spcAft>
              <a:buClr>
                <a:schemeClr val="dk1"/>
              </a:buClr>
              <a:buSzPct val="100000"/>
              <a:buChar char="•"/>
            </a:pPr>
            <a:r>
              <a:rPr lang="en-US"/>
              <a:t>Relation between sleep and minutes active</a:t>
            </a:r>
            <a:endParaRPr/>
          </a:p>
          <a:p>
            <a:pPr marL="228600" lvl="0" indent="-228600" algn="l" rtl="0">
              <a:lnSpc>
                <a:spcPct val="90000"/>
              </a:lnSpc>
              <a:spcBef>
                <a:spcPts val="1000"/>
              </a:spcBef>
              <a:spcAft>
                <a:spcPts val="0"/>
              </a:spcAft>
              <a:buClr>
                <a:schemeClr val="dk1"/>
              </a:buClr>
              <a:buSzPct val="100000"/>
              <a:buChar char="•"/>
            </a:pPr>
            <a:r>
              <a:rPr lang="en-US"/>
              <a:t>TotalSteps per Weekday</a:t>
            </a:r>
            <a:endParaRPr/>
          </a:p>
          <a:p>
            <a:pPr marL="228600" lvl="0" indent="-228600" algn="l" rtl="0">
              <a:lnSpc>
                <a:spcPct val="90000"/>
              </a:lnSpc>
              <a:spcBef>
                <a:spcPts val="1000"/>
              </a:spcBef>
              <a:spcAft>
                <a:spcPts val="0"/>
              </a:spcAft>
              <a:buClr>
                <a:schemeClr val="dk1"/>
              </a:buClr>
              <a:buSzPct val="100000"/>
              <a:buChar char="•"/>
            </a:pPr>
            <a:r>
              <a:rPr lang="en-US"/>
              <a:t>Average intensity, calories and Totalsteps throughout the day</a:t>
            </a:r>
            <a:endParaRPr/>
          </a:p>
          <a:p>
            <a:pPr marL="228600" lvl="0" indent="-228600" algn="l" rtl="0">
              <a:lnSpc>
                <a:spcPct val="90000"/>
              </a:lnSpc>
              <a:spcBef>
                <a:spcPts val="1000"/>
              </a:spcBef>
              <a:spcAft>
                <a:spcPts val="0"/>
              </a:spcAft>
              <a:buClr>
                <a:schemeClr val="dk1"/>
              </a:buClr>
              <a:buSzPct val="100000"/>
              <a:buChar char="•"/>
            </a:pPr>
            <a:r>
              <a:rPr lang="en-US"/>
              <a:t>Usertype by Sleep, minutes and Totalsteps</a:t>
            </a:r>
            <a:endParaRPr/>
          </a:p>
          <a:p>
            <a:pPr marL="228600" lvl="0" indent="-228600" algn="l" rtl="0">
              <a:lnSpc>
                <a:spcPct val="90000"/>
              </a:lnSpc>
              <a:spcBef>
                <a:spcPts val="1000"/>
              </a:spcBef>
              <a:spcAft>
                <a:spcPts val="0"/>
              </a:spcAft>
              <a:buClr>
                <a:schemeClr val="dk1"/>
              </a:buClr>
              <a:buSzPct val="100000"/>
              <a:buChar char="•"/>
            </a:pPr>
            <a:r>
              <a:rPr lang="en-US"/>
              <a:t>Sleep pattern for different usertype</a:t>
            </a:r>
            <a:endParaRPr/>
          </a:p>
          <a:p>
            <a:pPr marL="228600" lvl="0" indent="-228600" algn="l" rtl="0">
              <a:lnSpc>
                <a:spcPct val="90000"/>
              </a:lnSpc>
              <a:spcBef>
                <a:spcPts val="1000"/>
              </a:spcBef>
              <a:spcAft>
                <a:spcPts val="0"/>
              </a:spcAft>
              <a:buClr>
                <a:schemeClr val="dk1"/>
              </a:buClr>
              <a:buSzPct val="100000"/>
              <a:buChar char="•"/>
            </a:pPr>
            <a:r>
              <a:rPr lang="en-US"/>
              <a:t>Conclusion</a:t>
            </a:r>
            <a:endParaRPr/>
          </a:p>
          <a:p>
            <a:pPr marL="228600" lvl="0" indent="-228600" algn="l" rtl="0">
              <a:lnSpc>
                <a:spcPct val="90000"/>
              </a:lnSpc>
              <a:spcBef>
                <a:spcPts val="1000"/>
              </a:spcBef>
              <a:spcAft>
                <a:spcPts val="0"/>
              </a:spcAft>
              <a:buClr>
                <a:schemeClr val="dk1"/>
              </a:buClr>
              <a:buSzPct val="100000"/>
              <a:buChar char="•"/>
            </a:pPr>
            <a:r>
              <a:rPr lang="en-US"/>
              <a:t>Appendix</a:t>
            </a:r>
            <a:endParaRPr/>
          </a:p>
          <a:p>
            <a:pPr marL="228600" lvl="0" indent="-64135"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a:spLocks noGrp="1"/>
          </p:cNvSpPr>
          <p:nvPr>
            <p:ph type="title"/>
          </p:nvPr>
        </p:nvSpPr>
        <p:spPr>
          <a:xfrm>
            <a:off x="710381" y="6972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Objective:</a:t>
            </a:r>
            <a:endParaRPr/>
          </a:p>
        </p:txBody>
      </p:sp>
      <p:sp>
        <p:nvSpPr>
          <p:cNvPr id="102" name="Google Shape;102;p15"/>
          <p:cNvSpPr txBox="1">
            <a:spLocks noGrp="1"/>
          </p:cNvSpPr>
          <p:nvPr>
            <p:ph type="body" idx="1"/>
          </p:nvPr>
        </p:nvSpPr>
        <p:spPr>
          <a:xfrm>
            <a:off x="602226" y="1591931"/>
            <a:ext cx="10515600" cy="53487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The aim of this case study is to analyze </a:t>
            </a:r>
            <a:r>
              <a:rPr lang="en-US" b="1"/>
              <a:t>data from smart devices </a:t>
            </a:r>
            <a:r>
              <a:rPr lang="en-US"/>
              <a:t>manufactured by Bellabeat, a high-tech manufacturer of health-focused products for women and use it to </a:t>
            </a:r>
            <a:r>
              <a:rPr lang="en-US" b="1"/>
              <a:t>gain insight into how consumers are using their smart devices</a:t>
            </a:r>
            <a:r>
              <a:rPr lang="en-US"/>
              <a:t>. The insights discovered will then help guide marketing strategy for the company. The </a:t>
            </a:r>
            <a:r>
              <a:rPr lang="en-US" b="1"/>
              <a:t>three question </a:t>
            </a:r>
            <a:r>
              <a:rPr lang="en-US"/>
              <a:t>to guide the future marketing strategy:</a:t>
            </a:r>
            <a:endParaRPr/>
          </a:p>
          <a:p>
            <a:pPr marL="228600" lvl="0" indent="-228600" algn="l" rtl="0">
              <a:lnSpc>
                <a:spcPct val="90000"/>
              </a:lnSpc>
              <a:spcBef>
                <a:spcPts val="1000"/>
              </a:spcBef>
              <a:spcAft>
                <a:spcPts val="0"/>
              </a:spcAft>
              <a:buClr>
                <a:schemeClr val="dk1"/>
              </a:buClr>
              <a:buSzPts val="2800"/>
              <a:buChar char="•"/>
            </a:pPr>
            <a:r>
              <a:rPr lang="en-US"/>
              <a:t>What are some trends in smart device usage?</a:t>
            </a:r>
            <a:endParaRPr/>
          </a:p>
          <a:p>
            <a:pPr marL="228600" lvl="0" indent="-228600" algn="l" rtl="0">
              <a:lnSpc>
                <a:spcPct val="90000"/>
              </a:lnSpc>
              <a:spcBef>
                <a:spcPts val="1000"/>
              </a:spcBef>
              <a:spcAft>
                <a:spcPts val="0"/>
              </a:spcAft>
              <a:buClr>
                <a:schemeClr val="dk1"/>
              </a:buClr>
              <a:buSzPts val="2800"/>
              <a:buChar char="•"/>
            </a:pPr>
            <a:r>
              <a:rPr lang="en-US"/>
              <a:t>How could these trends apply to Bellabeat customers? </a:t>
            </a:r>
            <a:endParaRPr/>
          </a:p>
          <a:p>
            <a:pPr marL="228600" lvl="0" indent="-228600" algn="l" rtl="0">
              <a:lnSpc>
                <a:spcPct val="90000"/>
              </a:lnSpc>
              <a:spcBef>
                <a:spcPts val="1000"/>
              </a:spcBef>
              <a:spcAft>
                <a:spcPts val="0"/>
              </a:spcAft>
              <a:buClr>
                <a:schemeClr val="dk1"/>
              </a:buClr>
              <a:buSzPts val="2800"/>
              <a:buChar char="•"/>
            </a:pPr>
            <a:r>
              <a:rPr lang="en-US"/>
              <a:t>How could these trends help influence Bellabeat marketing strategy?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title"/>
          </p:nvPr>
        </p:nvSpPr>
        <p:spPr>
          <a:xfrm>
            <a:off x="739877"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Data Source:</a:t>
            </a:r>
            <a:endParaRPr/>
          </a:p>
        </p:txBody>
      </p:sp>
      <p:sp>
        <p:nvSpPr>
          <p:cNvPr id="108" name="Google Shape;108;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All the data used in this case study have been provided by Kaggle through links from Google Data Analytics course on Coursera. Thus, this is first party data.</a:t>
            </a:r>
            <a:endParaRPr/>
          </a:p>
          <a:p>
            <a:pPr marL="228600" lvl="0" indent="-228600" algn="l" rtl="0">
              <a:lnSpc>
                <a:spcPct val="90000"/>
              </a:lnSpc>
              <a:spcBef>
                <a:spcPts val="1000"/>
              </a:spcBef>
              <a:spcAft>
                <a:spcPts val="0"/>
              </a:spcAft>
              <a:buClr>
                <a:schemeClr val="dk1"/>
              </a:buClr>
              <a:buSzPts val="2800"/>
              <a:buChar char="•"/>
            </a:pPr>
            <a:r>
              <a:rPr lang="en-US"/>
              <a:t>All the files are in .csv format divided between two folders.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Cleaning and manipulation of data:</a:t>
            </a:r>
            <a:endParaRPr/>
          </a:p>
        </p:txBody>
      </p:sp>
      <p:sp>
        <p:nvSpPr>
          <p:cNvPr id="114" name="Google Shape;11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Using Power Query Editor data format is fixed and new table containing only ID as its column so that it act as Primary key for the table to use in data modelling.</a:t>
            </a:r>
            <a:endParaRPr dirty="0"/>
          </a:p>
          <a:p>
            <a:pPr marL="228600" lvl="0" indent="-228600" algn="l" rtl="0">
              <a:lnSpc>
                <a:spcPct val="90000"/>
              </a:lnSpc>
              <a:spcBef>
                <a:spcPts val="1000"/>
              </a:spcBef>
              <a:spcAft>
                <a:spcPts val="0"/>
              </a:spcAft>
              <a:buClr>
                <a:schemeClr val="dk1"/>
              </a:buClr>
              <a:buSzPts val="2800"/>
              <a:buChar char="•"/>
            </a:pPr>
            <a:r>
              <a:rPr lang="en-US" dirty="0"/>
              <a:t>Data model is established using the newly created table.</a:t>
            </a:r>
            <a:endParaRPr dirty="0"/>
          </a:p>
          <a:p>
            <a:pPr marL="228600" lvl="0" indent="-228600" algn="l" rtl="0">
              <a:lnSpc>
                <a:spcPct val="90000"/>
              </a:lnSpc>
              <a:spcBef>
                <a:spcPts val="1000"/>
              </a:spcBef>
              <a:spcAft>
                <a:spcPts val="0"/>
              </a:spcAft>
              <a:buClr>
                <a:schemeClr val="dk1"/>
              </a:buClr>
              <a:buSzPts val="2800"/>
              <a:buChar char="•"/>
            </a:pPr>
            <a:r>
              <a:rPr lang="en-US" dirty="0"/>
              <a:t>Several other new table is created for data analyzing, one such contains aggregated (sum or mean) values corresponding to each ID.</a:t>
            </a:r>
            <a:endParaRPr dirty="0"/>
          </a:p>
          <a:p>
            <a:pPr marL="228600" lvl="0" indent="-228600" algn="l" rtl="0">
              <a:lnSpc>
                <a:spcPct val="90000"/>
              </a:lnSpc>
              <a:spcBef>
                <a:spcPts val="1000"/>
              </a:spcBef>
              <a:spcAft>
                <a:spcPts val="0"/>
              </a:spcAft>
              <a:buClr>
                <a:schemeClr val="dk1"/>
              </a:buClr>
              <a:buSzPts val="2800"/>
              <a:buChar char="•"/>
            </a:pPr>
            <a:r>
              <a:rPr lang="en-US" dirty="0"/>
              <a:t>New Column is created to check activity level of different users.</a:t>
            </a:r>
            <a:endParaRPr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464574" y="7999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TotalSteps vs Calories:</a:t>
            </a:r>
            <a:endParaRPr b="1">
              <a:solidFill>
                <a:schemeClr val="dk2"/>
              </a:solidFill>
              <a:latin typeface="Times New Roman"/>
              <a:ea typeface="Times New Roman"/>
              <a:cs typeface="Times New Roman"/>
              <a:sym typeface="Times New Roman"/>
            </a:endParaRPr>
          </a:p>
        </p:txBody>
      </p:sp>
      <p:pic>
        <p:nvPicPr>
          <p:cNvPr id="120" name="Google Shape;120;p18"/>
          <p:cNvPicPr preferRelativeResize="0">
            <a:picLocks noGrp="1"/>
          </p:cNvPicPr>
          <p:nvPr>
            <p:ph type="body" idx="1"/>
          </p:nvPr>
        </p:nvPicPr>
        <p:blipFill rotWithShape="1">
          <a:blip r:embed="rId3">
            <a:alphaModFix/>
          </a:blip>
          <a:srcRect/>
          <a:stretch/>
        </p:blipFill>
        <p:spPr>
          <a:xfrm>
            <a:off x="2723535" y="1535579"/>
            <a:ext cx="5173668" cy="2790615"/>
          </a:xfrm>
          <a:prstGeom prst="rect">
            <a:avLst/>
          </a:prstGeom>
          <a:noFill/>
          <a:ln>
            <a:noFill/>
          </a:ln>
        </p:spPr>
      </p:pic>
      <p:sp>
        <p:nvSpPr>
          <p:cNvPr id="121" name="Google Shape;121;p18"/>
          <p:cNvSpPr txBox="1"/>
          <p:nvPr/>
        </p:nvSpPr>
        <p:spPr>
          <a:xfrm>
            <a:off x="609600" y="4768645"/>
            <a:ext cx="10844981" cy="1754326"/>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There is positive correlation between calories burned and Total number of steps.</a:t>
            </a:r>
            <a:endParaRPr/>
          </a:p>
          <a:p>
            <a:pPr marL="285750" marR="0" lvl="0" indent="-17145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This is expected as number of steps increased, the distance covered increases as well also and thus more calories are burned.</a:t>
            </a:r>
            <a:endParaRPr/>
          </a:p>
          <a:p>
            <a:pPr marL="285750" marR="0" lvl="0" indent="-17145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User need to be more active if they want to decrease their calories.</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9"/>
          <p:cNvSpPr txBox="1">
            <a:spLocks noGrp="1"/>
          </p:cNvSpPr>
          <p:nvPr>
            <p:ph type="title"/>
          </p:nvPr>
        </p:nvSpPr>
        <p:spPr>
          <a:xfrm>
            <a:off x="474829" y="-1198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Relation between sleep and minutes active:</a:t>
            </a:r>
            <a:endParaRPr b="1">
              <a:solidFill>
                <a:schemeClr val="dk2"/>
              </a:solidFill>
              <a:latin typeface="Times New Roman"/>
              <a:ea typeface="Times New Roman"/>
              <a:cs typeface="Times New Roman"/>
              <a:sym typeface="Times New Roman"/>
            </a:endParaRPr>
          </a:p>
        </p:txBody>
      </p:sp>
      <p:pic>
        <p:nvPicPr>
          <p:cNvPr id="127" name="Google Shape;127;p19"/>
          <p:cNvPicPr preferRelativeResize="0">
            <a:picLocks noGrp="1"/>
          </p:cNvPicPr>
          <p:nvPr>
            <p:ph type="body" idx="1"/>
          </p:nvPr>
        </p:nvPicPr>
        <p:blipFill rotWithShape="1">
          <a:blip r:embed="rId3">
            <a:alphaModFix/>
          </a:blip>
          <a:srcRect/>
          <a:stretch/>
        </p:blipFill>
        <p:spPr>
          <a:xfrm>
            <a:off x="143873" y="1185848"/>
            <a:ext cx="3758159" cy="2243152"/>
          </a:xfrm>
          <a:prstGeom prst="rect">
            <a:avLst/>
          </a:prstGeom>
          <a:noFill/>
          <a:ln>
            <a:noFill/>
          </a:ln>
        </p:spPr>
      </p:pic>
      <p:pic>
        <p:nvPicPr>
          <p:cNvPr id="128" name="Google Shape;128;p19"/>
          <p:cNvPicPr preferRelativeResize="0"/>
          <p:nvPr/>
        </p:nvPicPr>
        <p:blipFill rotWithShape="1">
          <a:blip r:embed="rId4">
            <a:alphaModFix/>
          </a:blip>
          <a:srcRect/>
          <a:stretch/>
        </p:blipFill>
        <p:spPr>
          <a:xfrm>
            <a:off x="143873" y="3920279"/>
            <a:ext cx="3790997" cy="2367450"/>
          </a:xfrm>
          <a:prstGeom prst="rect">
            <a:avLst/>
          </a:prstGeom>
          <a:noFill/>
          <a:ln>
            <a:noFill/>
          </a:ln>
        </p:spPr>
      </p:pic>
      <p:pic>
        <p:nvPicPr>
          <p:cNvPr id="129" name="Google Shape;129;p19"/>
          <p:cNvPicPr preferRelativeResize="0"/>
          <p:nvPr/>
        </p:nvPicPr>
        <p:blipFill rotWithShape="1">
          <a:blip r:embed="rId5">
            <a:alphaModFix/>
          </a:blip>
          <a:srcRect/>
          <a:stretch/>
        </p:blipFill>
        <p:spPr>
          <a:xfrm>
            <a:off x="8322807" y="1185848"/>
            <a:ext cx="3778501" cy="2373967"/>
          </a:xfrm>
          <a:prstGeom prst="rect">
            <a:avLst/>
          </a:prstGeom>
          <a:noFill/>
          <a:ln>
            <a:noFill/>
          </a:ln>
        </p:spPr>
      </p:pic>
      <p:pic>
        <p:nvPicPr>
          <p:cNvPr id="130" name="Google Shape;130;p19"/>
          <p:cNvPicPr preferRelativeResize="0"/>
          <p:nvPr/>
        </p:nvPicPr>
        <p:blipFill rotWithShape="1">
          <a:blip r:embed="rId6">
            <a:alphaModFix/>
          </a:blip>
          <a:srcRect/>
          <a:stretch/>
        </p:blipFill>
        <p:spPr>
          <a:xfrm>
            <a:off x="8322807" y="4036080"/>
            <a:ext cx="3778501" cy="2251649"/>
          </a:xfrm>
          <a:prstGeom prst="rect">
            <a:avLst/>
          </a:prstGeom>
          <a:noFill/>
          <a:ln>
            <a:noFill/>
          </a:ln>
        </p:spPr>
      </p:pic>
      <p:sp>
        <p:nvSpPr>
          <p:cNvPr id="131" name="Google Shape;131;p19"/>
          <p:cNvSpPr txBox="1"/>
          <p:nvPr/>
        </p:nvSpPr>
        <p:spPr>
          <a:xfrm>
            <a:off x="1602658" y="3489973"/>
            <a:ext cx="20254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Fig- 1</a:t>
            </a:r>
            <a:endParaRPr sz="1800">
              <a:solidFill>
                <a:schemeClr val="dk1"/>
              </a:solidFill>
              <a:latin typeface="Calibri"/>
              <a:ea typeface="Calibri"/>
              <a:cs typeface="Calibri"/>
              <a:sym typeface="Calibri"/>
            </a:endParaRPr>
          </a:p>
        </p:txBody>
      </p:sp>
      <p:sp>
        <p:nvSpPr>
          <p:cNvPr id="132" name="Google Shape;132;p19"/>
          <p:cNvSpPr txBox="1"/>
          <p:nvPr/>
        </p:nvSpPr>
        <p:spPr>
          <a:xfrm>
            <a:off x="1602658" y="6389155"/>
            <a:ext cx="28611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Fig- 2</a:t>
            </a:r>
            <a:endParaRPr sz="1800">
              <a:solidFill>
                <a:schemeClr val="dk1"/>
              </a:solidFill>
              <a:latin typeface="Calibri"/>
              <a:ea typeface="Calibri"/>
              <a:cs typeface="Calibri"/>
              <a:sym typeface="Calibri"/>
            </a:endParaRPr>
          </a:p>
        </p:txBody>
      </p:sp>
      <p:sp>
        <p:nvSpPr>
          <p:cNvPr id="133" name="Google Shape;133;p19"/>
          <p:cNvSpPr txBox="1"/>
          <p:nvPr/>
        </p:nvSpPr>
        <p:spPr>
          <a:xfrm>
            <a:off x="9897781" y="3559131"/>
            <a:ext cx="23990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Fig- 3</a:t>
            </a:r>
            <a:endParaRPr sz="1800">
              <a:solidFill>
                <a:schemeClr val="dk1"/>
              </a:solidFill>
              <a:latin typeface="Calibri"/>
              <a:ea typeface="Calibri"/>
              <a:cs typeface="Calibri"/>
              <a:sym typeface="Calibri"/>
            </a:endParaRPr>
          </a:p>
        </p:txBody>
      </p:sp>
      <p:sp>
        <p:nvSpPr>
          <p:cNvPr id="134" name="Google Shape;134;p19"/>
          <p:cNvSpPr txBox="1"/>
          <p:nvPr/>
        </p:nvSpPr>
        <p:spPr>
          <a:xfrm>
            <a:off x="9943293" y="6389155"/>
            <a:ext cx="20942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Fig- 4</a:t>
            </a:r>
            <a:endParaRPr sz="1800">
              <a:solidFill>
                <a:schemeClr val="dk1"/>
              </a:solidFill>
              <a:latin typeface="Calibri"/>
              <a:ea typeface="Calibri"/>
              <a:cs typeface="Calibri"/>
              <a:sym typeface="Calibri"/>
            </a:endParaRPr>
          </a:p>
        </p:txBody>
      </p:sp>
      <p:sp>
        <p:nvSpPr>
          <p:cNvPr id="135" name="Google Shape;135;p19"/>
          <p:cNvSpPr txBox="1"/>
          <p:nvPr/>
        </p:nvSpPr>
        <p:spPr>
          <a:xfrm>
            <a:off x="4227871" y="1205763"/>
            <a:ext cx="3821007" cy="563231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Fig- 1, Fig- 2, Fig- 3 and Fig- 4 are relation between </a:t>
            </a:r>
            <a:r>
              <a:rPr lang="en-US" sz="1800" b="1">
                <a:solidFill>
                  <a:schemeClr val="dk1"/>
                </a:solidFill>
                <a:latin typeface="Calibri"/>
                <a:ea typeface="Calibri"/>
                <a:cs typeface="Calibri"/>
                <a:sym typeface="Calibri"/>
              </a:rPr>
              <a:t>TotalMinutesAsleep vs  SedentaryMinutes, LightlyActiveMinutes, FairlyActiveMinutes and VeryActiveMinutes </a:t>
            </a:r>
            <a:r>
              <a:rPr lang="en-US" sz="1800">
                <a:solidFill>
                  <a:schemeClr val="dk1"/>
                </a:solidFill>
                <a:latin typeface="Calibri"/>
                <a:ea typeface="Calibri"/>
                <a:cs typeface="Calibri"/>
                <a:sym typeface="Calibri"/>
              </a:rPr>
              <a:t>respectively.</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From the figures it is obvious that all of them has </a:t>
            </a:r>
            <a:r>
              <a:rPr lang="en-US" sz="1800" b="1">
                <a:solidFill>
                  <a:schemeClr val="dk1"/>
                </a:solidFill>
                <a:latin typeface="Calibri"/>
                <a:ea typeface="Calibri"/>
                <a:cs typeface="Calibri"/>
                <a:sym typeface="Calibri"/>
              </a:rPr>
              <a:t>negative correlation with TotalMinutesAsleep</a:t>
            </a:r>
            <a:r>
              <a:rPr lang="en-US" sz="1800">
                <a:solidFill>
                  <a:schemeClr val="dk1"/>
                </a:solidFill>
                <a:latin typeface="Calibri"/>
                <a:ea typeface="Calibri"/>
                <a:cs typeface="Calibri"/>
                <a:sym typeface="Calibri"/>
              </a:rPr>
              <a:t> in the order of </a:t>
            </a:r>
            <a:r>
              <a:rPr lang="en-US" sz="1800" b="1">
                <a:solidFill>
                  <a:schemeClr val="dk1"/>
                </a:solidFill>
                <a:latin typeface="Calibri"/>
                <a:ea typeface="Calibri"/>
                <a:cs typeface="Calibri"/>
                <a:sym typeface="Calibri"/>
              </a:rPr>
              <a:t>Sedentary &gt; Lightly Active &gt; Fairly Active &gt; Very Active.</a:t>
            </a:r>
            <a:endParaRPr/>
          </a:p>
          <a:p>
            <a:pPr marL="285750" marR="0" lvl="0" indent="-171450" algn="l" rtl="0">
              <a:spcBef>
                <a:spcPts val="0"/>
              </a:spcBef>
              <a:spcAft>
                <a:spcPts val="0"/>
              </a:spcAft>
              <a:buClr>
                <a:schemeClr val="dk1"/>
              </a:buClr>
              <a:buSzPts val="1800"/>
              <a:buFont typeface="Arial"/>
              <a:buNone/>
            </a:pPr>
            <a:endParaRPr sz="18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Thus, it can be said if users want to improve their sleep, they need to be less sedentary and more active.</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More data needed to support this insight.</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a:spLocks noGrp="1"/>
          </p:cNvSpPr>
          <p:nvPr>
            <p:ph type="title"/>
          </p:nvPr>
        </p:nvSpPr>
        <p:spPr>
          <a:xfrm>
            <a:off x="838200" y="7015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TotalSteps</a:t>
            </a:r>
            <a:r>
              <a:rPr lang="en-US" b="1">
                <a:solidFill>
                  <a:schemeClr val="dk2"/>
                </a:solidFill>
              </a:rPr>
              <a:t> </a:t>
            </a:r>
            <a:r>
              <a:rPr lang="en-US" b="1">
                <a:solidFill>
                  <a:schemeClr val="dk2"/>
                </a:solidFill>
                <a:latin typeface="Times New Roman"/>
                <a:ea typeface="Times New Roman"/>
                <a:cs typeface="Times New Roman"/>
                <a:sym typeface="Times New Roman"/>
              </a:rPr>
              <a:t>per Weekday</a:t>
            </a:r>
            <a:r>
              <a:rPr lang="en-US" b="1">
                <a:solidFill>
                  <a:schemeClr val="dk2"/>
                </a:solidFill>
              </a:rPr>
              <a:t>:</a:t>
            </a:r>
            <a:endParaRPr b="1">
              <a:solidFill>
                <a:schemeClr val="dk2"/>
              </a:solidFill>
            </a:endParaRPr>
          </a:p>
        </p:txBody>
      </p:sp>
      <p:sp>
        <p:nvSpPr>
          <p:cNvPr id="141" name="Google Shape;141;p20"/>
          <p:cNvSpPr txBox="1"/>
          <p:nvPr/>
        </p:nvSpPr>
        <p:spPr>
          <a:xfrm>
            <a:off x="1032387" y="5447071"/>
            <a:ext cx="10321413" cy="1038746"/>
          </a:xfrm>
          <a:prstGeom prst="rect">
            <a:avLst/>
          </a:prstGeom>
          <a:noFill/>
          <a:ln>
            <a:noFill/>
          </a:ln>
        </p:spPr>
        <p:txBody>
          <a:bodyPr spcFirstLastPara="1" wrap="square" lIns="91425" tIns="45700" rIns="91425" bIns="45700" anchor="t" anchorCtr="0">
            <a:spAutoFit/>
          </a:bodyPr>
          <a:lstStyle/>
          <a:p>
            <a:pPr marL="0" marR="0" lvl="0" indent="-114300" algn="l" rtl="0">
              <a:spcBef>
                <a:spcPts val="0"/>
              </a:spcBef>
              <a:spcAft>
                <a:spcPts val="0"/>
              </a:spcAft>
              <a:buClr>
                <a:srgbClr val="3C4043"/>
              </a:buClr>
              <a:buSzPts val="1800"/>
              <a:buFont typeface="Arial"/>
              <a:buChar char="•"/>
            </a:pPr>
            <a:r>
              <a:rPr lang="en-US" sz="1800" b="0" i="0">
                <a:solidFill>
                  <a:srgbClr val="3C4043"/>
                </a:solidFill>
                <a:latin typeface="Inter"/>
                <a:ea typeface="Inter"/>
                <a:cs typeface="Inter"/>
                <a:sym typeface="Inter"/>
              </a:rPr>
              <a:t> Users walk daily the recommended number of steps of 7500 besides Thursday, Friday and Sunday.</a:t>
            </a:r>
            <a:endParaRPr/>
          </a:p>
          <a:p>
            <a:pPr marL="0" marR="0" lvl="0" indent="0" algn="l" rtl="0">
              <a:spcBef>
                <a:spcPts val="90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pic>
        <p:nvPicPr>
          <p:cNvPr id="142" name="Google Shape;142;p20"/>
          <p:cNvPicPr preferRelativeResize="0">
            <a:picLocks noGrp="1"/>
          </p:cNvPicPr>
          <p:nvPr>
            <p:ph type="body" idx="1"/>
          </p:nvPr>
        </p:nvPicPr>
        <p:blipFill rotWithShape="1">
          <a:blip r:embed="rId3">
            <a:alphaModFix/>
          </a:blip>
          <a:srcRect/>
          <a:stretch/>
        </p:blipFill>
        <p:spPr>
          <a:xfrm>
            <a:off x="3110253" y="1282544"/>
            <a:ext cx="5404908" cy="335828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1"/>
          <p:cNvSpPr txBox="1">
            <a:spLocks noGrp="1"/>
          </p:cNvSpPr>
          <p:nvPr>
            <p:ph type="title"/>
          </p:nvPr>
        </p:nvSpPr>
        <p:spPr>
          <a:xfrm>
            <a:off x="503903" y="7015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Average intensity, calories and Totalsteps throughout the day:</a:t>
            </a:r>
            <a:endParaRPr b="1">
              <a:solidFill>
                <a:schemeClr val="dk2"/>
              </a:solidFill>
              <a:latin typeface="Times New Roman"/>
              <a:ea typeface="Times New Roman"/>
              <a:cs typeface="Times New Roman"/>
              <a:sym typeface="Times New Roman"/>
            </a:endParaRPr>
          </a:p>
        </p:txBody>
      </p:sp>
      <p:pic>
        <p:nvPicPr>
          <p:cNvPr id="148" name="Google Shape;148;p21"/>
          <p:cNvPicPr preferRelativeResize="0">
            <a:picLocks noGrp="1"/>
          </p:cNvPicPr>
          <p:nvPr>
            <p:ph type="body" idx="1"/>
          </p:nvPr>
        </p:nvPicPr>
        <p:blipFill rotWithShape="1">
          <a:blip r:embed="rId3">
            <a:alphaModFix/>
          </a:blip>
          <a:srcRect/>
          <a:stretch/>
        </p:blipFill>
        <p:spPr>
          <a:xfrm>
            <a:off x="336569" y="1794388"/>
            <a:ext cx="3701719" cy="2226682"/>
          </a:xfrm>
          <a:prstGeom prst="rect">
            <a:avLst/>
          </a:prstGeom>
          <a:noFill/>
          <a:ln>
            <a:noFill/>
          </a:ln>
        </p:spPr>
      </p:pic>
      <p:pic>
        <p:nvPicPr>
          <p:cNvPr id="149" name="Google Shape;149;p21"/>
          <p:cNvPicPr preferRelativeResize="0"/>
          <p:nvPr/>
        </p:nvPicPr>
        <p:blipFill rotWithShape="1">
          <a:blip r:embed="rId4">
            <a:alphaModFix/>
          </a:blip>
          <a:srcRect/>
          <a:stretch/>
        </p:blipFill>
        <p:spPr>
          <a:xfrm>
            <a:off x="4397824" y="1794387"/>
            <a:ext cx="3540472" cy="2226682"/>
          </a:xfrm>
          <a:prstGeom prst="rect">
            <a:avLst/>
          </a:prstGeom>
          <a:noFill/>
          <a:ln>
            <a:noFill/>
          </a:ln>
        </p:spPr>
      </p:pic>
      <p:pic>
        <p:nvPicPr>
          <p:cNvPr id="150" name="Google Shape;150;p21"/>
          <p:cNvPicPr preferRelativeResize="0"/>
          <p:nvPr/>
        </p:nvPicPr>
        <p:blipFill rotWithShape="1">
          <a:blip r:embed="rId5">
            <a:alphaModFix/>
          </a:blip>
          <a:srcRect/>
          <a:stretch/>
        </p:blipFill>
        <p:spPr>
          <a:xfrm>
            <a:off x="8297832" y="1794387"/>
            <a:ext cx="3530373" cy="2228415"/>
          </a:xfrm>
          <a:prstGeom prst="rect">
            <a:avLst/>
          </a:prstGeom>
          <a:noFill/>
          <a:ln>
            <a:noFill/>
          </a:ln>
        </p:spPr>
      </p:pic>
      <p:sp>
        <p:nvSpPr>
          <p:cNvPr id="151" name="Google Shape;151;p21"/>
          <p:cNvSpPr txBox="1"/>
          <p:nvPr/>
        </p:nvSpPr>
        <p:spPr>
          <a:xfrm>
            <a:off x="1838633" y="4109884"/>
            <a:ext cx="27825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Fig- 1</a:t>
            </a:r>
            <a:endParaRPr sz="1800">
              <a:solidFill>
                <a:schemeClr val="dk1"/>
              </a:solidFill>
              <a:latin typeface="Calibri"/>
              <a:ea typeface="Calibri"/>
              <a:cs typeface="Calibri"/>
              <a:sym typeface="Calibri"/>
            </a:endParaRPr>
          </a:p>
        </p:txBody>
      </p:sp>
      <p:sp>
        <p:nvSpPr>
          <p:cNvPr id="152" name="Google Shape;152;p21"/>
          <p:cNvSpPr txBox="1"/>
          <p:nvPr/>
        </p:nvSpPr>
        <p:spPr>
          <a:xfrm>
            <a:off x="5860025" y="4109884"/>
            <a:ext cx="27825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Fig-2</a:t>
            </a:r>
            <a:endParaRPr/>
          </a:p>
        </p:txBody>
      </p:sp>
      <p:sp>
        <p:nvSpPr>
          <p:cNvPr id="153" name="Google Shape;153;p21"/>
          <p:cNvSpPr txBox="1"/>
          <p:nvPr/>
        </p:nvSpPr>
        <p:spPr>
          <a:xfrm>
            <a:off x="9881417" y="4109884"/>
            <a:ext cx="170098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Fig-3</a:t>
            </a:r>
            <a:endParaRPr sz="1800">
              <a:solidFill>
                <a:schemeClr val="dk1"/>
              </a:solidFill>
              <a:latin typeface="Calibri"/>
              <a:ea typeface="Calibri"/>
              <a:cs typeface="Calibri"/>
              <a:sym typeface="Calibri"/>
            </a:endParaRPr>
          </a:p>
        </p:txBody>
      </p:sp>
      <p:sp>
        <p:nvSpPr>
          <p:cNvPr id="154" name="Google Shape;154;p21"/>
          <p:cNvSpPr txBox="1"/>
          <p:nvPr/>
        </p:nvSpPr>
        <p:spPr>
          <a:xfrm>
            <a:off x="426021" y="4788310"/>
            <a:ext cx="11484078" cy="1754326"/>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Fig-1, Fig-2 and Fig-3 shows relation between daily time and calories , total steps and total intensity respectively.</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Avg steps increases from 7:00 to 12:00 and again from 16:00 to 19:00 showing that people are most active during this time.</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Calories and average intensity also follows same trends as total steps.</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2"/>
          <p:cNvSpPr txBox="1">
            <a:spLocks noGrp="1"/>
          </p:cNvSpPr>
          <p:nvPr>
            <p:ph type="title"/>
          </p:nvPr>
        </p:nvSpPr>
        <p:spPr>
          <a:xfrm>
            <a:off x="366252" y="-21828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Usertype by Sleep, minutes and Totalsteps:</a:t>
            </a:r>
            <a:endParaRPr b="1">
              <a:solidFill>
                <a:schemeClr val="dk2"/>
              </a:solidFill>
              <a:latin typeface="Times New Roman"/>
              <a:ea typeface="Times New Roman"/>
              <a:cs typeface="Times New Roman"/>
              <a:sym typeface="Times New Roman"/>
            </a:endParaRPr>
          </a:p>
        </p:txBody>
      </p:sp>
      <p:pic>
        <p:nvPicPr>
          <p:cNvPr id="160" name="Google Shape;160;p22"/>
          <p:cNvPicPr preferRelativeResize="0"/>
          <p:nvPr/>
        </p:nvPicPr>
        <p:blipFill rotWithShape="1">
          <a:blip r:embed="rId3">
            <a:alphaModFix/>
          </a:blip>
          <a:srcRect/>
          <a:stretch/>
        </p:blipFill>
        <p:spPr>
          <a:xfrm>
            <a:off x="4262817" y="1229032"/>
            <a:ext cx="3588774" cy="2753546"/>
          </a:xfrm>
          <a:prstGeom prst="rect">
            <a:avLst/>
          </a:prstGeom>
          <a:noFill/>
          <a:ln>
            <a:noFill/>
          </a:ln>
        </p:spPr>
      </p:pic>
      <p:pic>
        <p:nvPicPr>
          <p:cNvPr id="161" name="Google Shape;161;p22"/>
          <p:cNvPicPr preferRelativeResize="0"/>
          <p:nvPr/>
        </p:nvPicPr>
        <p:blipFill rotWithShape="1">
          <a:blip r:embed="rId4">
            <a:alphaModFix/>
          </a:blip>
          <a:srcRect/>
          <a:stretch/>
        </p:blipFill>
        <p:spPr>
          <a:xfrm>
            <a:off x="8159382" y="1229032"/>
            <a:ext cx="3666366" cy="2753546"/>
          </a:xfrm>
          <a:prstGeom prst="rect">
            <a:avLst/>
          </a:prstGeom>
          <a:noFill/>
          <a:ln>
            <a:noFill/>
          </a:ln>
        </p:spPr>
      </p:pic>
      <p:sp>
        <p:nvSpPr>
          <p:cNvPr id="162" name="Google Shape;162;p22"/>
          <p:cNvSpPr txBox="1"/>
          <p:nvPr/>
        </p:nvSpPr>
        <p:spPr>
          <a:xfrm>
            <a:off x="366252" y="4306583"/>
            <a:ext cx="11459496" cy="230832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58% of user have poor sleep(less than 6 hours) while only 33% have good sleep(between 6-8 hours).</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36%(12 users) of user are very active, while 24%(8 users) are lightly active and 21%(7 users) are fairly active. Only 18%(6 users) are sedentary.  </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21%(7 users) have more than 10000 steps (very active), 27%(9 users) have steps between 7500 and 10000 (fairly active), 27%(9 users) have steps between 5000 and 7500 (lightly active) and 24%(8 users) have less than 5000 steps (sedentary). </a:t>
            </a:r>
            <a:endParaRPr sz="1800" dirty="0">
              <a:solidFill>
                <a:schemeClr val="dk1"/>
              </a:solidFill>
              <a:latin typeface="Calibri"/>
              <a:ea typeface="Calibri"/>
              <a:cs typeface="Calibri"/>
              <a:sym typeface="Calibri"/>
            </a:endParaRPr>
          </a:p>
        </p:txBody>
      </p:sp>
      <p:pic>
        <p:nvPicPr>
          <p:cNvPr id="163" name="Google Shape;163;p22"/>
          <p:cNvPicPr preferRelativeResize="0"/>
          <p:nvPr/>
        </p:nvPicPr>
        <p:blipFill rotWithShape="1">
          <a:blip r:embed="rId5">
            <a:alphaModFix/>
          </a:blip>
          <a:srcRect/>
          <a:stretch/>
        </p:blipFill>
        <p:spPr>
          <a:xfrm>
            <a:off x="453342" y="1229031"/>
            <a:ext cx="3448364" cy="27535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376084" y="-14615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Sleep pattern for different usertype:</a:t>
            </a:r>
            <a:endParaRPr b="1">
              <a:solidFill>
                <a:schemeClr val="dk2"/>
              </a:solidFill>
              <a:latin typeface="Times New Roman"/>
              <a:ea typeface="Times New Roman"/>
              <a:cs typeface="Times New Roman"/>
              <a:sym typeface="Times New Roman"/>
            </a:endParaRPr>
          </a:p>
        </p:txBody>
      </p:sp>
      <p:pic>
        <p:nvPicPr>
          <p:cNvPr id="169" name="Google Shape;169;p23"/>
          <p:cNvPicPr preferRelativeResize="0">
            <a:picLocks noGrp="1"/>
          </p:cNvPicPr>
          <p:nvPr>
            <p:ph type="body" idx="1"/>
          </p:nvPr>
        </p:nvPicPr>
        <p:blipFill rotWithShape="1">
          <a:blip r:embed="rId3">
            <a:alphaModFix/>
          </a:blip>
          <a:srcRect/>
          <a:stretch/>
        </p:blipFill>
        <p:spPr>
          <a:xfrm>
            <a:off x="3722832" y="1090920"/>
            <a:ext cx="5322845" cy="3316645"/>
          </a:xfrm>
          <a:prstGeom prst="rect">
            <a:avLst/>
          </a:prstGeom>
          <a:noFill/>
          <a:ln>
            <a:noFill/>
          </a:ln>
        </p:spPr>
      </p:pic>
      <p:sp>
        <p:nvSpPr>
          <p:cNvPr id="170" name="Google Shape;170;p23"/>
          <p:cNvSpPr txBox="1"/>
          <p:nvPr/>
        </p:nvSpPr>
        <p:spPr>
          <a:xfrm>
            <a:off x="757084" y="4955458"/>
            <a:ext cx="10599174" cy="1754326"/>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Through the visuals it is clear that sedentary group has the worst sleepers and as activity increases, we see better sleep pattern. </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Over sleepers decreases as activity level increases as more active users will spend less amount of time staying in bed.</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More data required as it seems very active user have more poor sleepers than normal sleepers but that could be because of missing data and smaller sample dataset.</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838200"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Conclusion:</a:t>
            </a:r>
            <a:endParaRPr b="1">
              <a:solidFill>
                <a:schemeClr val="dk2"/>
              </a:solidFill>
              <a:latin typeface="Times New Roman"/>
              <a:ea typeface="Times New Roman"/>
              <a:cs typeface="Times New Roman"/>
              <a:sym typeface="Times New Roman"/>
            </a:endParaRPr>
          </a:p>
        </p:txBody>
      </p:sp>
      <p:sp>
        <p:nvSpPr>
          <p:cNvPr id="176" name="Google Shape;176;p24"/>
          <p:cNvSpPr txBox="1">
            <a:spLocks noGrp="1"/>
          </p:cNvSpPr>
          <p:nvPr>
            <p:ph type="body" idx="1"/>
          </p:nvPr>
        </p:nvSpPr>
        <p:spPr>
          <a:xfrm>
            <a:off x="555522" y="1091381"/>
            <a:ext cx="11080955" cy="5604388"/>
          </a:xfrm>
          <a:prstGeom prst="rect">
            <a:avLst/>
          </a:prstGeom>
          <a:noFill/>
          <a:ln>
            <a:noFill/>
          </a:ln>
        </p:spPr>
        <p:txBody>
          <a:bodyPr spcFirstLastPara="1" wrap="square" lIns="91425" tIns="45700" rIns="91425" bIns="45700" anchor="t" anchorCtr="0">
            <a:normAutofit fontScale="77500" lnSpcReduction="20000"/>
          </a:bodyPr>
          <a:lstStyle/>
          <a:p>
            <a:pPr marL="514350" lvl="0" indent="-514350" algn="l" rtl="0">
              <a:lnSpc>
                <a:spcPct val="90000"/>
              </a:lnSpc>
              <a:spcBef>
                <a:spcPts val="0"/>
              </a:spcBef>
              <a:spcAft>
                <a:spcPts val="0"/>
              </a:spcAft>
              <a:buClr>
                <a:schemeClr val="dk1"/>
              </a:buClr>
              <a:buSzPct val="100000"/>
              <a:buAutoNum type="arabicPeriod"/>
            </a:pPr>
            <a:r>
              <a:rPr lang="en-US" b="1" i="0">
                <a:latin typeface="Inter"/>
                <a:ea typeface="Inter"/>
                <a:cs typeface="Inter"/>
                <a:sym typeface="Inter"/>
              </a:rPr>
              <a:t>Daily notification on steps and posts on app</a:t>
            </a:r>
            <a:r>
              <a:rPr lang="en-US" b="1" i="0">
                <a:solidFill>
                  <a:srgbClr val="3C4043"/>
                </a:solidFill>
                <a:latin typeface="Inter"/>
                <a:ea typeface="Inter"/>
                <a:cs typeface="Inter"/>
                <a:sym typeface="Inter"/>
              </a:rPr>
              <a:t>:</a:t>
            </a:r>
            <a:endParaRPr/>
          </a:p>
          <a:p>
            <a:pPr marL="0" lvl="0" indent="0" algn="l" rtl="0">
              <a:lnSpc>
                <a:spcPct val="90000"/>
              </a:lnSpc>
              <a:spcBef>
                <a:spcPts val="1000"/>
              </a:spcBef>
              <a:spcAft>
                <a:spcPts val="0"/>
              </a:spcAft>
              <a:buClr>
                <a:schemeClr val="dk1"/>
              </a:buClr>
              <a:buSzPct val="100000"/>
              <a:buNone/>
            </a:pPr>
            <a:r>
              <a:rPr lang="en-US" b="0" i="0">
                <a:latin typeface="Inter"/>
                <a:ea typeface="Inter"/>
                <a:cs typeface="Inter"/>
                <a:sym typeface="Inter"/>
              </a:rPr>
              <a:t>The data shows the positive correlation between calories and steps. Thus, we can encourage users to take the recommended 7500 steps everyday by using notification when they are not meeting daily quota.</a:t>
            </a:r>
            <a:endParaRPr/>
          </a:p>
          <a:p>
            <a:pPr marL="0" lvl="0" indent="0" algn="l" rtl="0">
              <a:lnSpc>
                <a:spcPct val="90000"/>
              </a:lnSpc>
              <a:spcBef>
                <a:spcPts val="1000"/>
              </a:spcBef>
              <a:spcAft>
                <a:spcPts val="0"/>
              </a:spcAft>
              <a:buClr>
                <a:schemeClr val="dk1"/>
              </a:buClr>
              <a:buSzPct val="100000"/>
              <a:buNone/>
            </a:pPr>
            <a:endParaRPr b="1">
              <a:latin typeface="Inter"/>
              <a:ea typeface="Inter"/>
              <a:cs typeface="Inter"/>
              <a:sym typeface="Inter"/>
            </a:endParaRPr>
          </a:p>
          <a:p>
            <a:pPr marL="0" lvl="0" indent="0" algn="l" rtl="0">
              <a:lnSpc>
                <a:spcPct val="90000"/>
              </a:lnSpc>
              <a:spcBef>
                <a:spcPts val="1000"/>
              </a:spcBef>
              <a:spcAft>
                <a:spcPts val="0"/>
              </a:spcAft>
              <a:buClr>
                <a:schemeClr val="dk1"/>
              </a:buClr>
              <a:buSzPct val="100000"/>
              <a:buNone/>
            </a:pPr>
            <a:r>
              <a:rPr lang="en-US" b="1">
                <a:latin typeface="Inter"/>
                <a:ea typeface="Inter"/>
                <a:cs typeface="Inter"/>
                <a:sym typeface="Inter"/>
              </a:rPr>
              <a:t>2. </a:t>
            </a:r>
            <a:r>
              <a:rPr lang="en-US" b="1" i="0">
                <a:latin typeface="Inter"/>
                <a:ea typeface="Inter"/>
                <a:cs typeface="Inter"/>
                <a:sym typeface="Inter"/>
              </a:rPr>
              <a:t>Notification and sleep techniques</a:t>
            </a:r>
            <a:r>
              <a:rPr lang="en-US" b="1">
                <a:latin typeface="Inter"/>
                <a:ea typeface="Inter"/>
                <a:cs typeface="Inter"/>
                <a:sym typeface="Inter"/>
              </a:rPr>
              <a:t>:</a:t>
            </a:r>
            <a:endParaRPr/>
          </a:p>
          <a:p>
            <a:pPr marL="0" lvl="0" indent="0" algn="l" rtl="0">
              <a:lnSpc>
                <a:spcPct val="90000"/>
              </a:lnSpc>
              <a:spcBef>
                <a:spcPts val="1000"/>
              </a:spcBef>
              <a:spcAft>
                <a:spcPts val="0"/>
              </a:spcAft>
              <a:buClr>
                <a:schemeClr val="dk1"/>
              </a:buClr>
              <a:buSzPct val="100000"/>
              <a:buNone/>
            </a:pPr>
            <a:r>
              <a:rPr lang="en-US">
                <a:latin typeface="Inter"/>
                <a:ea typeface="Inter"/>
                <a:cs typeface="Inter"/>
                <a:sym typeface="Inter"/>
              </a:rPr>
              <a:t>Based on result most users are not getting the recommended hours of sleep i.e. 6-8 hours . Encourage users to get proper sleep by using notification and post explaining why good sleep is required.</a:t>
            </a:r>
            <a:endParaRPr/>
          </a:p>
          <a:p>
            <a:pPr marL="0" lvl="0" indent="0" algn="l" rtl="0">
              <a:lnSpc>
                <a:spcPct val="90000"/>
              </a:lnSpc>
              <a:spcBef>
                <a:spcPts val="1000"/>
              </a:spcBef>
              <a:spcAft>
                <a:spcPts val="0"/>
              </a:spcAft>
              <a:buClr>
                <a:schemeClr val="dk1"/>
              </a:buClr>
              <a:buSzPct val="100000"/>
              <a:buNone/>
            </a:pPr>
            <a:endParaRPr>
              <a:latin typeface="Inter"/>
              <a:ea typeface="Inter"/>
              <a:cs typeface="Inter"/>
              <a:sym typeface="Inter"/>
            </a:endParaRPr>
          </a:p>
          <a:p>
            <a:pPr marL="0" lvl="0" indent="0" algn="l" rtl="0">
              <a:lnSpc>
                <a:spcPct val="90000"/>
              </a:lnSpc>
              <a:spcBef>
                <a:spcPts val="1000"/>
              </a:spcBef>
              <a:spcAft>
                <a:spcPts val="0"/>
              </a:spcAft>
              <a:buClr>
                <a:schemeClr val="dk1"/>
              </a:buClr>
              <a:buSzPct val="100000"/>
              <a:buNone/>
            </a:pPr>
            <a:r>
              <a:rPr lang="en-US" b="1">
                <a:latin typeface="Inter"/>
                <a:ea typeface="Inter"/>
                <a:cs typeface="Inter"/>
                <a:sym typeface="Inter"/>
              </a:rPr>
              <a:t>3. Daily use of smart device:</a:t>
            </a:r>
            <a:endParaRPr/>
          </a:p>
          <a:p>
            <a:pPr marL="0" lvl="0" indent="0" algn="l" rtl="0">
              <a:lnSpc>
                <a:spcPct val="90000"/>
              </a:lnSpc>
              <a:spcBef>
                <a:spcPts val="1000"/>
              </a:spcBef>
              <a:spcAft>
                <a:spcPts val="0"/>
              </a:spcAft>
              <a:buClr>
                <a:schemeClr val="dk1"/>
              </a:buClr>
              <a:buSzPct val="100000"/>
              <a:buNone/>
            </a:pPr>
            <a:r>
              <a:rPr lang="en-US">
                <a:latin typeface="Inter"/>
                <a:ea typeface="Inter"/>
                <a:cs typeface="Inter"/>
                <a:sym typeface="Inter"/>
              </a:rPr>
              <a:t>More than 50% users are either active or fairly active on the smart users. Thus, the device need to be more durable, water resistant and light. For other users we need to promote by they should use it more by giving more features to make it more usable in daily life.</a:t>
            </a:r>
            <a:endParaRPr/>
          </a:p>
          <a:p>
            <a:pPr marL="0" lvl="0" indent="0" algn="l" rtl="0">
              <a:lnSpc>
                <a:spcPct val="90000"/>
              </a:lnSpc>
              <a:spcBef>
                <a:spcPts val="1000"/>
              </a:spcBef>
              <a:spcAft>
                <a:spcPts val="0"/>
              </a:spcAft>
              <a:buClr>
                <a:schemeClr val="dk1"/>
              </a:buClr>
              <a:buSzPct val="100000"/>
              <a:buNone/>
            </a:pPr>
            <a:r>
              <a:rPr lang="en-US">
                <a:latin typeface="Inter"/>
                <a:ea typeface="Inter"/>
                <a:cs typeface="Inter"/>
                <a:sym typeface="Inter"/>
              </a:rPr>
              <a:t> </a:t>
            </a:r>
            <a:endParaRPr/>
          </a:p>
          <a:p>
            <a:pPr marL="0" lvl="0" indent="0" algn="l" rtl="0">
              <a:lnSpc>
                <a:spcPct val="90000"/>
              </a:lnSpc>
              <a:spcBef>
                <a:spcPts val="1000"/>
              </a:spcBef>
              <a:spcAft>
                <a:spcPts val="0"/>
              </a:spcAft>
              <a:buClr>
                <a:schemeClr val="dk1"/>
              </a:buClr>
              <a:buSzPct val="100000"/>
              <a:buNone/>
            </a:pPr>
            <a:r>
              <a:rPr lang="en-US" b="1">
                <a:latin typeface="Inter"/>
                <a:ea typeface="Inter"/>
                <a:cs typeface="Inter"/>
                <a:sym typeface="Inter"/>
              </a:rPr>
              <a:t>4.</a:t>
            </a:r>
            <a:r>
              <a:rPr lang="en-US" b="1" i="0">
                <a:latin typeface="Inter"/>
                <a:ea typeface="Inter"/>
                <a:cs typeface="Inter"/>
                <a:sym typeface="Inter"/>
              </a:rPr>
              <a:t> Reward system</a:t>
            </a:r>
            <a:r>
              <a:rPr lang="en-US" b="1">
                <a:latin typeface="Inter"/>
                <a:ea typeface="Inter"/>
                <a:cs typeface="Inter"/>
                <a:sym typeface="Inter"/>
              </a:rPr>
              <a:t>:</a:t>
            </a:r>
            <a:endParaRPr/>
          </a:p>
          <a:p>
            <a:pPr marL="0" lvl="0" indent="0" algn="l" rtl="0">
              <a:lnSpc>
                <a:spcPct val="90000"/>
              </a:lnSpc>
              <a:spcBef>
                <a:spcPts val="1000"/>
              </a:spcBef>
              <a:spcAft>
                <a:spcPts val="0"/>
              </a:spcAft>
              <a:buClr>
                <a:schemeClr val="dk1"/>
              </a:buClr>
              <a:buSzPct val="100000"/>
              <a:buNone/>
            </a:pPr>
            <a:r>
              <a:rPr lang="en-US">
                <a:latin typeface="Inter"/>
                <a:ea typeface="Inter"/>
                <a:cs typeface="Inter"/>
                <a:sym typeface="Inter"/>
              </a:rPr>
              <a:t>Most users might not get motivated by just notification so maybe there should be reward system to encourage them should they consistently reach their daily goal.</a:t>
            </a:r>
            <a:endParaRPr/>
          </a:p>
          <a:p>
            <a:pPr marL="228600" lvl="0" indent="-90804" algn="l" rtl="0">
              <a:lnSpc>
                <a:spcPct val="90000"/>
              </a:lnSpc>
              <a:spcBef>
                <a:spcPts val="1000"/>
              </a:spcBef>
              <a:spcAft>
                <a:spcPts val="0"/>
              </a:spcAft>
              <a:buClr>
                <a:schemeClr val="dk1"/>
              </a:buClr>
              <a:buSzPct val="1000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TotalTime>
  <Words>938</Words>
  <Application>Microsoft Office PowerPoint</Application>
  <PresentationFormat>Widescreen</PresentationFormat>
  <Paragraphs>79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Times New Roman</vt:lpstr>
      <vt:lpstr>Inter</vt:lpstr>
      <vt:lpstr>Calibri</vt:lpstr>
      <vt:lpstr>Office Theme</vt:lpstr>
      <vt:lpstr>Case study: How Can a Wellness Technology Company Play It Smart?</vt:lpstr>
      <vt:lpstr>Table of Content:</vt:lpstr>
      <vt:lpstr>Objective:</vt:lpstr>
      <vt:lpstr>Data Source:</vt:lpstr>
      <vt:lpstr>Cleaning and manipulation of data:</vt:lpstr>
      <vt:lpstr>TotalSteps vs Calories:</vt:lpstr>
      <vt:lpstr>Relation between sleep and minutes active:</vt:lpstr>
      <vt:lpstr>TotalSteps per Weekday:</vt:lpstr>
      <vt:lpstr>Average intensity, calories and Totalsteps throughout the day:</vt:lpstr>
      <vt:lpstr>Usertype by Sleep, minutes and Totalsteps:</vt:lpstr>
      <vt:lpstr>Sleep pattern for different usertype: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Priyam Ghosh</dc:creator>
  <cp:lastModifiedBy>Priyam Ghosh</cp:lastModifiedBy>
  <cp:revision>2</cp:revision>
  <dcterms:modified xsi:type="dcterms:W3CDTF">2025-12-02T17:53:35Z</dcterms:modified>
</cp:coreProperties>
</file>